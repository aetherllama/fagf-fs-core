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194560"/>
            <a:ext cx="2926080" cy="2926080"/>
          </a:xfrm>
          <a:prstGeom prst="ellipse">
            <a:avLst/>
          </a:prstGeom>
          <a:solidFill>
            <a:srgbClr val="CADCFC">
              <a:alpha val="10000"/>
            </a:srgbClr>
          </a:solidFill>
          <a:ln w="12700">
            <a:solidFill>
              <a:srgbClr val="CADCF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48640"/>
            <a:ext cx="1828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48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FAGF-FS  v1.1.0-Stable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7132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Governance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Financial Services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deploying safe, compliant, and auditable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 in financial ecosystems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452628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Foundational Agentic Governance Framework  |  Financial Services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Gap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AI agents are executing faster than compliance can follow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3852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193852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508760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508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Speed Risk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" y="2450592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175564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Agents execute transactions in milliseconds. Post-execution auditing arrives too late to prevent harm.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325880"/>
            <a:ext cx="193852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325880"/>
            <a:ext cx="193852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508760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508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20848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No Auditability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79192" y="2450592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2514600"/>
            <a:ext cx="175564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Black-box LLM reasoning leaves no verifiable trace for regulators or compliance teams.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193852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325880"/>
            <a:ext cx="193852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508760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1508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0848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Regulatory Gaps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28032" y="2450592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14600"/>
            <a:ext cx="175564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MAS, GDPR, and AML/CFT rules exist but are not mapped into executable enforcement logic.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1325880"/>
            <a:ext cx="193852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325880"/>
            <a:ext cx="193852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62088" y="1508760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62088" y="1508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2084832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LLM Failures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76872" y="2450592"/>
            <a:ext cx="1600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2514600"/>
            <a:ext cx="175564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Hallucinated merchants, reasoning inconsistencies, and PII leakage are novel risks traditional systems ignore.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Traditional compliance was designed for humans making decisions in seconds — not agents acting in milliseconds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FAGF-FS?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 standardized specification — not just guidelines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840480" cy="3520440"/>
          </a:xfrm>
          <a:prstGeom prst="rect">
            <a:avLst/>
          </a:prstGeom>
          <a:solidFill>
            <a:srgbClr val="162050"/>
          </a:solidFill>
          <a:ln w="12700">
            <a:solidFill>
              <a:srgbClr val="2E3F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1732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Foundational Agentic Governance Framework for Financial Services (FAGF-FS) is a deterministic specification for governing AI agents that autonomously execute financial transactions.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3154680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Purpose-built for financial services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3465576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198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Regulatory mapping (MAS, GDPR, ISO 20022)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3776472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30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Pre-execution validation — not post-audit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408736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41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Human-in-the-loop for high-risk actions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439826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525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Immutable audit trail for every decision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280160"/>
            <a:ext cx="1920240" cy="2331720"/>
          </a:xfrm>
          <a:prstGeom prst="rect">
            <a:avLst/>
          </a:prstGeom>
          <a:solidFill>
            <a:srgbClr val="1A2454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280160"/>
            <a:ext cx="192024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General AI Safety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18888" y="18105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Probabilistic guardrails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21284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267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Advisory / soft limits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67004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7249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Post-execution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12724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1821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Generic risk scoring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1280160"/>
            <a:ext cx="1920240" cy="2331720"/>
          </a:xfrm>
          <a:prstGeom prst="rect">
            <a:avLst/>
          </a:prstGeom>
          <a:solidFill>
            <a:srgbClr val="0A3A45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1280160"/>
            <a:ext cx="192024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280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FAGF-FS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76288" y="18105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Deterministic mandates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21284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22677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Hard block-before-commit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267004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27249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Pre-execution validation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58000" y="312724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76288" y="31821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Financial-first design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Governance sits between the agent and financial rails — not around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81328"/>
            <a:ext cx="169164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52704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AI Agent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0040" y="181051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Proposes action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0280" y="1481328"/>
            <a:ext cx="1691640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52704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Gov. Envelope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40280" y="181051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Packages intent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0520" y="1481328"/>
            <a:ext cx="1691640" cy="6217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60520" y="1527048"/>
            <a:ext cx="1691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Validator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60520" y="181051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Evaluates mandates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1792224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792224"/>
            <a:ext cx="2286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792224"/>
            <a:ext cx="658368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0528" y="1444752"/>
            <a:ext cx="0" cy="193852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1444752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11696" y="1207008"/>
            <a:ext cx="21031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1696" y="123444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APPROVED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11696" y="14538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Autonomous execution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10528" y="2414016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11696" y="2176272"/>
            <a:ext cx="210312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11696" y="220370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HITL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711696" y="24231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Human review required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10528" y="3383280"/>
            <a:ext cx="201168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11696" y="3145536"/>
            <a:ext cx="210312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11696" y="317296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BLOCKED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11696" y="3392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Rejected + logged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11696" y="3858768"/>
            <a:ext cx="2103120" cy="621792"/>
          </a:xfrm>
          <a:prstGeom prst="rect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11696" y="390448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Financial Rails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11696" y="41879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</a:rPr>
              <a:t>Executes transaction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63256" y="1682496"/>
            <a:ext cx="0" cy="2176272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808976" y="267919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</a:rPr>
              <a:t>if approved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2331720"/>
            <a:ext cx="3657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2423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7523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Agent wraps intent in a Governance Envelope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108960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072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Validator evaluates all mandates deterministically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3924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Approved actions reach the Financial Rail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7124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Blocked actions are rejected with reason logged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4498848"/>
            <a:ext cx="8503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4988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Key Insight: The Validator is stateless and horizontally scalable — deployable as a sidecar to any agent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Envelope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Every agent action is wrapped in a structured, auditable payload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6634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Fintech Example: SaaS Subscription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9047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00784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transaction: {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11096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amount: 499,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merchantName: "Stripe Inc.",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"SaaS Subscription",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currency: "SGD"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52344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62656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reasoning: "Monthly payment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172968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processing fees for Stripe.",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context: {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593592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isNewMerchant: false,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riskScore: 0.12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014216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224528"/>
            <a:ext cx="4389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1170432"/>
            <a:ext cx="3429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49240" y="1170432"/>
            <a:ext cx="109728" cy="10241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234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9552" y="15087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Amount, merchant, category, currency, and timestamp of the proposed action.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49240" y="2340864"/>
            <a:ext cx="3429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49240" y="2340864"/>
            <a:ext cx="109728" cy="10241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2404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59552" y="26791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The agent's human-readable justification — cross-checked against the transaction for consistency.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49240" y="3511296"/>
            <a:ext cx="3429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49240" y="3511296"/>
            <a:ext cx="109728" cy="10241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35753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59552" y="384962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Historical signals: merchant reputation, velocity state, risk score, and behavioural flags.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49240" y="4663440"/>
            <a:ext cx="34290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4663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Result:  APPROVED  (riskScore 0.12, known merchant, within limit)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Deterministic rules — not probabilistic guardrails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920240" cy="3547872"/>
          </a:xfrm>
          <a:prstGeom prst="rect">
            <a:avLst/>
          </a:prstGeom>
          <a:solidFill>
            <a:srgbClr val="16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1920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AuthZ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Authorization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Controls WHO and WHERE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688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Examples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7066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New merchant → HITL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09067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054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Unlicensed service → BLOCK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40156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Hallucinated merchant → BLOCK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1261872"/>
            <a:ext cx="1920240" cy="3547872"/>
          </a:xfrm>
          <a:prstGeom prst="rect">
            <a:avLst/>
          </a:prstGeom>
          <a:solidFill>
            <a:srgbClr val="162050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1261872"/>
            <a:ext cx="192024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Spending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06040" y="17190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Spending Limits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0604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Controls HOW MUCH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239572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4688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</a:rPr>
              <a:t>Examples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743200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0632" y="27066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&lt;SGD 500 → auto-approve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3090672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3054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SGD 500–5k → HITL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06040" y="3438144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0632" y="340156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&gt;SGD 5k → BLOCK + alert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261872"/>
            <a:ext cx="1920240" cy="3547872"/>
          </a:xfrm>
          <a:prstGeom prst="rect">
            <a:avLst/>
          </a:prstGeom>
          <a:solidFill>
            <a:srgbClr val="1620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261872"/>
            <a:ext cx="19202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Velocity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00600" y="17190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Velocity Controls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0060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Controls HOW FAST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39572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4688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Examples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7432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27066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Max 3 tx / 60 sec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09067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3054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10+ tx / 2 sec → kill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43814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65192" y="340156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Daily aggregate cap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1261872"/>
            <a:ext cx="1920240" cy="3547872"/>
          </a:xfrm>
          <a:prstGeom prst="rect">
            <a:avLst/>
          </a:prstGeom>
          <a:solidFill>
            <a:srgbClr val="162050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1261872"/>
            <a:ext cx="1920240" cy="38404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1261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Reasoning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95160" y="17190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Reasoning Checks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95160" y="2057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Controls WHY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95160" y="2395728"/>
            <a:ext cx="17373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95160" y="24688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</a:rPr>
              <a:t>Examples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95160" y="2743200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9752" y="27066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Reasoning mismatch → flag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95160" y="3090672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9752" y="305409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PII detected → BLOCK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95160" y="3438144"/>
            <a:ext cx="109728" cy="10972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59752" y="340156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Scam keywords → BLOCK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Validation Logic (TVL)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Mandates are evaluated in priority order — from hard blocks to soft logging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61872"/>
            <a:ext cx="109728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335024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Block-Before-Commit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70432" y="164592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Hard categorical blocks — gambling, unlicensed activities, PII leakage, scam patterns. No human override. Instant rejection.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1426464"/>
            <a:ext cx="11887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4264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5798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57984"/>
            <a:ext cx="109728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313432"/>
            <a:ext cx="438912" cy="43891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13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2231136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Human-in-the-Loop (HITL)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70432" y="254203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High-value transactions, new merchants, velocity spikes. Paused for explicit human approval before executing.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2322576"/>
            <a:ext cx="1188720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3225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HITL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5409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54096"/>
            <a:ext cx="109728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209544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2095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0432" y="3127248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Autonomous Execution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70432" y="3438144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Known merchant, within limits, consistent reasoning, low risk score. Approved and executed immediately with audit log.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3218688"/>
            <a:ext cx="11887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32186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950208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950208"/>
            <a:ext cx="10972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10565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105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70432" y="4023360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Shadow Logging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70432" y="433425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Borderline transactions logged for compliance review without blocking. Builds audit dataset for mandate calibration.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4114800"/>
            <a:ext cx="11887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41148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LOGGED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Autonomous Expense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fintech startup deploys an AI agent to autonomously pay vendor invoices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09728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93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Transaction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Stripe Inc — SGD 499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"Monthly API fees"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755648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545336"/>
            <a:ext cx="205740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54533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AUTO-APPROVED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134416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Known merchant · Under SGD 500 limit · Low risk score (0.12) · Reasoning consistent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96312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96312"/>
            <a:ext cx="109728" cy="10515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51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Transaction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7523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MacBook Pro — SGD 2,800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04495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"New laptop for engineer"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017520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2807208"/>
            <a:ext cx="2057400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8072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HITL REQUIRED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2606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Exceeds SGD 1,000 HITL threshold · Capital expenditure · New merchant ID detected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758184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58184"/>
            <a:ext cx="109728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1304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Transaction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40142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CryptoYield Ltd — SGD 50,000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3068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"High-yield investment opportunity"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4279392"/>
            <a:ext cx="41148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4069080"/>
            <a:ext cx="205740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40690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BLOCKED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46520" y="3867912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Why:  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Unlicensed investment firm (MAS) · Hard limit exceeded · Scam keyword in reasoning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Payment: End-to-End Lifecycle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7589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How FAGF-FS governs an autonomous B2B payment agent in real time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321040" cy="402336"/>
          </a:xfrm>
          <a:prstGeom prst="rect">
            <a:avLst/>
          </a:prstGeom>
          <a:solidFill>
            <a:srgbClr val="0A3A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1556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Scenario:  A Singapore fintech's AI payment agent receives supplier invoice INV-2026-0441 for SGD 12,400 from Tech Parts Ltd and decides whether to pay autonomously.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96112" y="1664208"/>
            <a:ext cx="1645920" cy="960120"/>
          </a:xfrm>
          <a:prstGeom prst="rect">
            <a:avLst/>
          </a:prstGeom>
          <a:solidFill>
            <a:srgbClr val="162050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1664208"/>
            <a:ext cx="16459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17904" y="18013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17904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2311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96896" y="2144268"/>
            <a:ext cx="16459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98064" y="1664208"/>
            <a:ext cx="1645920" cy="960120"/>
          </a:xfrm>
          <a:prstGeom prst="rect">
            <a:avLst/>
          </a:prstGeom>
          <a:solidFill>
            <a:srgbClr val="162050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98064" y="1664208"/>
            <a:ext cx="16459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9856" y="180136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98064" y="22311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Envelope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98848" y="2144268"/>
            <a:ext cx="16459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0016" y="1664208"/>
            <a:ext cx="1645920" cy="960120"/>
          </a:xfrm>
          <a:prstGeom prst="rect">
            <a:avLst/>
          </a:prstGeom>
          <a:solidFill>
            <a:srgbClr val="16205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664208"/>
            <a:ext cx="164592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21808" y="1801368"/>
            <a:ext cx="402336" cy="40233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0016" y="22311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144268"/>
            <a:ext cx="16459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1968" y="1664208"/>
            <a:ext cx="1645920" cy="960120"/>
          </a:xfrm>
          <a:prstGeom prst="rect">
            <a:avLst/>
          </a:prstGeom>
          <a:solidFill>
            <a:srgbClr val="162050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01968" y="1664208"/>
            <a:ext cx="16459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80136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01968" y="22311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Execute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277977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Mandate Checks — Runtime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054096"/>
            <a:ext cx="4023360" cy="310896"/>
          </a:xfrm>
          <a:prstGeom prst="rect">
            <a:avLst/>
          </a:prstGeom>
          <a:solidFill>
            <a:srgbClr val="0A2A14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054096"/>
            <a:ext cx="658368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5409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207008" y="30723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AuthZ:  Tech Parts Ltd confirmed in approved beneficiary list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3419856"/>
            <a:ext cx="4023360" cy="310896"/>
          </a:xfrm>
          <a:prstGeom prst="rect">
            <a:avLst/>
          </a:prstGeom>
          <a:solidFill>
            <a:srgbClr val="2A1A00"/>
          </a:solidFill>
          <a:ln w="10160">
            <a:solidFill>
              <a:srgbClr val="E07B3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3419856"/>
            <a:ext cx="658368" cy="3108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1985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FLAG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207008" y="3438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</a:rPr>
              <a:t>Spending:  SGD 12,400 exceeds SGD 10,000 autonomous limit — HITL flag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02920" y="3785616"/>
            <a:ext cx="4023360" cy="310896"/>
          </a:xfrm>
          <a:prstGeom prst="rect">
            <a:avLst/>
          </a:prstGeom>
          <a:solidFill>
            <a:srgbClr val="0A2A14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785616"/>
            <a:ext cx="658368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7856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207008" y="380390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Velocity:  1st outbound payment today — within daily cap of SGD 50,000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4151376"/>
            <a:ext cx="4023360" cy="310896"/>
          </a:xfrm>
          <a:prstGeom prst="rect">
            <a:avLst/>
          </a:prstGeom>
          <a:solidFill>
            <a:srgbClr val="0A2A14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4151376"/>
            <a:ext cx="658368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15137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207008" y="416966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Reasoning:  "Supplier hardware order" matches vendor category correctly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4517136"/>
            <a:ext cx="4023360" cy="310896"/>
          </a:xfrm>
          <a:prstGeom prst="rect">
            <a:avLst/>
          </a:prstGeom>
          <a:solidFill>
            <a:srgbClr val="0A2A14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4517136"/>
            <a:ext cx="658368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51713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207008" y="45354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PII:  No NRIC/FIN or personal data detected in reasoning payload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46320" y="27797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Outcome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3054096"/>
            <a:ext cx="3931920" cy="749808"/>
          </a:xfrm>
          <a:prstGeom prst="rect">
            <a:avLst/>
          </a:prstGeom>
          <a:solidFill>
            <a:srgbClr val="2A1A00"/>
          </a:solidFill>
          <a:ln w="15240">
            <a:solidFill>
              <a:srgbClr val="E07B3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46320" y="3054096"/>
            <a:ext cx="1005840" cy="7498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305409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HITL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961888" y="30906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</a:rPr>
              <a:t>Spending mandate flagged: amount exceeds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</a:rPr>
              <a:t>SGD 10,000 autonomous threshold.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61888" y="345643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Finance manager notified with full audit trace.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46320" y="3913632"/>
            <a:ext cx="3931920" cy="804672"/>
          </a:xfrm>
          <a:prstGeom prst="rect">
            <a:avLst/>
          </a:prstGeom>
          <a:solidFill>
            <a:srgbClr val="0A2A14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3913632"/>
            <a:ext cx="100584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3913632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PAID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961888" y="395020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ISO 20022 pacs.008 message generated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61888" y="416966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Audit hash: 0x7f3a9c…  |  Rail: PayNow/FAST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961888" y="43708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</a:rPr>
              <a:t>Settled: 2026-05-27T14:22:01+08:00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Payment: Validation Detail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What FAGF-FS actually evaluates inside each mandate — for the same SGD 12,400 payment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92608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15568"/>
            <a:ext cx="292608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Governance Envelope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transaction: {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65963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12400,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currency: "SGD",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05282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beneficiary: {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"Tech Parts Ltd",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4602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accountId: "TPL-SG-0041"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4261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83921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reference: "INV-2026-0441",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rail: "ISO20022/FAST"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3240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reasoning: "Approved supplier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2559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hardware order, March PO",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82219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{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018788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isNewBeneficiary: false,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21538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riskScore: 0.18,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411980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dailySpendToDate: 2400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608576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0" y="1115568"/>
            <a:ext cx="5303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1115568"/>
            <a:ext cx="91440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1234440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1234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3400" y="1170432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AuthZ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76672" y="1170432"/>
            <a:ext cx="3282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fagf-auth-01: Beneficiary trust-list lookup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43400" y="1426464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accountId "TPL-SG-0041" found in approved beneficiary store. IP proximity check: SG. MAS licensing: N/A (non-financial entity).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0" y="1856232"/>
            <a:ext cx="5303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0" y="1856232"/>
            <a:ext cx="91440" cy="67665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1975104"/>
            <a:ext cx="640080" cy="2743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19751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FLAG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43400" y="1911096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Spending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76672" y="1911096"/>
            <a:ext cx="3282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fagf-limit-01: Autonomous spending threshold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43400" y="2167128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SGD 12,400 exceeds autonomous limit of SGD 10,000. Enforcement: approval_required. Escalates to HITL queue with full context.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74720" y="2596896"/>
            <a:ext cx="5303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0" y="2596896"/>
            <a:ext cx="91440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1880" y="2715768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11880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43400" y="2651760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Velocity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76672" y="2651760"/>
            <a:ext cx="3282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fagf-velocity-01: Daily aggregate cap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43400" y="2907792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dailySpendToDate SGD 2,400 + SGD 12,400 = SGD 14,800. Within SGD 50,000 daily cap. Burst check: 1 tx in last 60 sec.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74720" y="3337560"/>
            <a:ext cx="5303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474720" y="3337560"/>
            <a:ext cx="91440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11880" y="3456432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11880" y="3456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343400" y="339242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Reasoning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76672" y="3392424"/>
            <a:ext cx="3282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fagf-reason-01: Semantic consistency check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343400" y="3648456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"Approved supplier hardware order" aligns with category "B2B Procurement". No scam keywords. No PII (NRIC/FIN pattern) detected.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474720" y="4078224"/>
            <a:ext cx="5303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474720" y="4078224"/>
            <a:ext cx="91440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1880" y="4197096"/>
            <a:ext cx="64008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11880" y="41970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PASS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343400" y="4133088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Category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376672" y="4133088"/>
            <a:ext cx="32826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fagf-cat-01: Categorical blocklist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343400" y="4389120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"B2B Procurement" not in blocklist. Beneficiary not flagged by MAS AML watchlist. No unlicensed financial activity detected.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818888"/>
            <a:ext cx="841248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4818888"/>
            <a:ext cx="8412480" cy="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7B39"/>
                </a:solidFill>
              </a:rPr>
              <a:t>Final Result:  HITL REQUIRED — 4 of 5 mandates passed. 1 flag (Spending). Audit log sealed. Human approval pending.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FAGF-FS maps regulations into executable mandates — not documentation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920240" cy="2999232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92024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MAS TRM &amp; FEAT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Singapore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" y="1847088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10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Financial services licensing 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" y="2441448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048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FEAT: Fairness, Ethics,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3035808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9923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AML/CFT transaction monitoring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" y="3630168"/>
            <a:ext cx="109728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Singapore NRIC/FIN PII detection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1234440"/>
            <a:ext cx="1920240" cy="2999232"/>
          </a:xfrm>
          <a:prstGeom prst="rect">
            <a:avLst/>
          </a:prstGeom>
          <a:solidFill>
            <a:srgbClr val="162050"/>
          </a:solidFill>
          <a:ln w="1524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234440"/>
            <a:ext cx="1920240" cy="4389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GDPR &amp; PDPA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14600" y="15087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EU / Singapore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24328" y="1847088"/>
            <a:ext cx="109728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1810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PII detection in agent reasoning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24328" y="2441448"/>
            <a:ext cx="109728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24048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Right to explanation for AI decisions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24328" y="3035808"/>
            <a:ext cx="109728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299923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minimization in audit logs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24328" y="3630168"/>
            <a:ext cx="109728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Cross-border data flow controls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234440"/>
            <a:ext cx="1920240" cy="2999232"/>
          </a:xfrm>
          <a:prstGeom prst="rect">
            <a:avLst/>
          </a:prstGeom>
          <a:solidFill>
            <a:srgbClr val="162050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234440"/>
            <a:ext cx="1920240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ISO 20022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09160" y="15087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Global Standard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18888" y="184708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810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Financial messaging structure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18888" y="244144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4048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Standardized tx categorization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18888" y="303580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99923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Cross-institution data portability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18888" y="363016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Structured audit trail format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03720" y="1234440"/>
            <a:ext cx="1920240" cy="2999232"/>
          </a:xfrm>
          <a:prstGeom prst="rect">
            <a:avLst/>
          </a:prstGeom>
          <a:solidFill>
            <a:srgbClr val="162050"/>
          </a:solidFill>
          <a:ln w="1524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03720" y="1234440"/>
            <a:ext cx="1920240" cy="43891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MindForge AI Risk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903720" y="15087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</a:rPr>
              <a:t>MAS Framework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13448" y="184708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78040" y="181051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7-dimension risk assessment overlay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13448" y="244144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240487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system inventory requirements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13448" y="303580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299923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Lifecycle controls (design-retirement)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13448" y="363016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3593592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Board-level oversight for critical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MindForge Risk Dimensions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FAGF-FS mandates map directly to MAS Project MindForge's 7 AI risk categories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74904" y="1207008"/>
            <a:ext cx="1920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" y="1207008"/>
            <a:ext cx="19202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38988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89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13716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Accountability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&amp; Governance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" y="2002536"/>
            <a:ext cx="16642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2093976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Linked mandates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2286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All 7 core mandates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32888" y="1207008"/>
            <a:ext cx="1920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2888" y="1207008"/>
            <a:ext cx="1920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38988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389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27248" y="13716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Monitoring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&amp; Stability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651760" y="2002536"/>
            <a:ext cx="16642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093976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Linked mandates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286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Velocity mandates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0872" y="1207008"/>
            <a:ext cx="1920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1207008"/>
            <a:ext cx="192024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1389888"/>
            <a:ext cx="402336" cy="40233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1389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85232" y="13716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Transparency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&amp; Explainability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9744" y="2002536"/>
            <a:ext cx="16642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093976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Linked mandates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2286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Spending + audit trail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48856" y="1207008"/>
            <a:ext cx="1920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48856" y="1207008"/>
            <a:ext cx="192024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67728" y="138988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3898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43216" y="1371600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Fairness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&amp; Bias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67728" y="2002536"/>
            <a:ext cx="16642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2093976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Linked mandates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67728" y="2286000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Category blocklist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453896" y="3090672"/>
            <a:ext cx="1920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453896" y="3090672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72768" y="327355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72768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048256" y="3255264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Legal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Regulatory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572768" y="3886200"/>
            <a:ext cx="16642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72768" y="397764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Linked mandates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72768" y="4169664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AuthZ + categories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11880" y="3090672"/>
            <a:ext cx="1920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11880" y="3090672"/>
            <a:ext cx="1920240" cy="6400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30752" y="3273552"/>
            <a:ext cx="402336" cy="402336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30752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206240" y="3255264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Ethics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&amp; Impact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730752" y="3886200"/>
            <a:ext cx="16642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30752" y="397764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Linked mandates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730752" y="4169664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</a:rPr>
              <a:t>Content safety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69864" y="3090672"/>
            <a:ext cx="19202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769864" y="3090672"/>
            <a:ext cx="19202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88736" y="3273552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88736" y="32735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364224" y="3255264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Cyber &amp; Data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Security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888736" y="3886200"/>
            <a:ext cx="16642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88736" y="3977640"/>
            <a:ext cx="1664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Linked mandates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88736" y="4169664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AuthZ + PII checks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Materiality Assessment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Three-axis scoring model determines the governance controls required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606040" cy="1691640"/>
          </a:xfrm>
          <a:prstGeom prst="rect">
            <a:avLst/>
          </a:prstGeom>
          <a:solidFill>
            <a:srgbClr val="16205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26060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Potential severity of adverse outcomes if the AI system fails or misbehaves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Score:  1 to 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07008"/>
            <a:ext cx="2606040" cy="1691640"/>
          </a:xfrm>
          <a:prstGeom prst="rect">
            <a:avLst/>
          </a:prstGeom>
          <a:solidFill>
            <a:srgbClr val="162050"/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07008"/>
            <a:ext cx="2606040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07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Complexity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Technical sophistication of the AI system and its decision-making processes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29000" y="26517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</a:rPr>
              <a:t>Score:  1 to 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07008"/>
            <a:ext cx="2606040" cy="1691640"/>
          </a:xfrm>
          <a:prstGeom prst="rect">
            <a:avLst/>
          </a:prstGeom>
          <a:solidFill>
            <a:srgbClr val="162050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07008"/>
            <a:ext cx="26060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07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Degree of business dependency — how critical is this AI to operations?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26517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Score:  1 to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8138160" cy="475488"/>
          </a:xfrm>
          <a:prstGeom prst="rect">
            <a:avLst/>
          </a:prstGeom>
          <a:solidFill>
            <a:srgbClr val="0A154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9067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 =  Impact  x  Complexity  x  Reliance    (range: 1 to 125)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" y="3822192"/>
            <a:ext cx="192024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8496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4114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1 – 15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" y="4315968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Standard controls, periodic review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14600" y="3822192"/>
            <a:ext cx="192024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8496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4600" y="4114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16 – 40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87752" y="4315968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Enhanced controls, regular monitoring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822192"/>
            <a:ext cx="19202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8496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09160" y="4114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41 – 80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82312" y="4315968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Comprehensive controls, continuous monitoring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03720" y="3822192"/>
            <a:ext cx="19202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8496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Critical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4114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81 – 125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76872" y="4315968"/>
            <a:ext cx="17739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Maximum controls, board-level oversight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FAGF-FS for Fintech?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Production-ready governance — from proof-of-concept to compliance in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26517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Regulatory-Ready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883664"/>
            <a:ext cx="2377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Direct mappings to MAS, GDPR, ISO 20022, and PDPA — compliance-first, not compliance-after.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20700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07008"/>
            <a:ext cx="265176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371600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13898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Pre-Execution Safety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37560" y="1883664"/>
            <a:ext cx="2377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97510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Governs AI agents before funds move — not post-audit. Critical for autonomous payment systems.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20700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07008"/>
            <a:ext cx="265176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3716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13898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Full Auditability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1883664"/>
            <a:ext cx="2377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97510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Every mandate evaluation is logged with full context: reasoning, risk score, and outcome.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03580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35808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20040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2186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Extensible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3712464"/>
            <a:ext cx="2377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0390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Add custom mandates per jurisdiction. Core blocklist mandates cannot be disabled in production.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303580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035808"/>
            <a:ext cx="265176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20040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40480" y="32186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Deterministic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337560" y="3712464"/>
            <a:ext cx="2377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80390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Same input always produces the same output — critical for auditors who need reproducibility.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35040" y="3035808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035808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32004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75120" y="32186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</a:rPr>
              <a:t>Framework-Agnostic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172200" y="3712464"/>
            <a:ext cx="2377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3803904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Works with any AI stack: LangChain, AutoGPT, custom agents. Specification is language-independent.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097280"/>
            <a:ext cx="5486400" cy="54864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CADCFC">
              <a:alpha val="8000"/>
            </a:srgbClr>
          </a:solidFill>
          <a:ln w="12700">
            <a:solidFill>
              <a:srgbClr val="CADCFC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Agents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Regulators Can Trust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FAGF-FS gives fintech teams the infrastructure to deploy autonomous AI agents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at speed — without sacrificing compliance, safety, or auditability.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3649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Specification: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10512" y="336499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SPECIFICATION.md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7124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Repository: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10512" y="371246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github.com/aetherllama/fagf-fs-core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05993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Version: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10512" y="405993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7B39"/>
                </a:solidFill>
              </a:rPr>
              <a:t>FAGF-FS  v1.1.0-Stable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773168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846320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Agentic Financial Standards Org (Conceptual)  |  MIT License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Governance for Financial Services</dc:title>
  <dc:subject>PptxGenJS Presentation</dc:subject>
  <dc:creator>FAGF-FS</dc:creator>
  <cp:lastModifiedBy>FAGF-FS</cp:lastModifiedBy>
  <cp:revision>1</cp:revision>
  <dcterms:created xsi:type="dcterms:W3CDTF">2026-05-27T15:08:40Z</dcterms:created>
  <dcterms:modified xsi:type="dcterms:W3CDTF">2026-05-27T15:08:40Z</dcterms:modified>
</cp:coreProperties>
</file>