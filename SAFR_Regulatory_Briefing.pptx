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548640"/>
            <a:ext cx="3840480" cy="384048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2560320"/>
            <a:ext cx="2560320" cy="2560320"/>
          </a:xfrm>
          <a:prstGeom prst="ellipse">
            <a:avLst/>
          </a:prstGeom>
          <a:solidFill>
            <a:srgbClr val="162E4E"/>
          </a:solidFill>
          <a:ln w="12700">
            <a:solidFill>
              <a:srgbClr val="162E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530352" y="221284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 for Agentic Finance Runtime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30352" y="2724912"/>
            <a:ext cx="4114800" cy="0"/>
          </a:xfrm>
          <a:prstGeom prst="line">
            <a:avLst/>
          </a:prstGeom>
          <a:noFill/>
          <a:ln w="12700">
            <a:solidFill>
              <a:srgbClr val="0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85292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Briefing for Prudential and Conduct Supervisors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33649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Runtime Governance  ·  Open Specification  ·  For Discussion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37307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github.com/aetherllama/fagf-fs-core  ·  Apache 2.0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Supervisory Gap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frameworks have identified the problem. The runtime implementation layer does not yet exist.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554480"/>
            <a:ext cx="4069080" cy="294436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54480"/>
            <a:ext cx="4069080" cy="54864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682496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supervisory frameworks require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6072" y="2048256"/>
            <a:ext cx="377647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MindForge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67512" y="2286000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monitoring with agentic-specific controls and board-level accountability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76072" y="2633472"/>
            <a:ext cx="377647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6791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IMDA MGF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67512" y="2871216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Pre-execution action constraints and human oversight at defined intervention points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6072" y="3218688"/>
            <a:ext cx="377647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2644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7512" y="3456432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oversight, auditability, and explainability for high-risk automated decisions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6072" y="3803904"/>
            <a:ext cx="377647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8496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FEAT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67512" y="4041648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Fairness, Ethics, Accountability, Transparency — applied to each AI-driven decision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554480"/>
            <a:ext cx="4069080" cy="294436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554480"/>
            <a:ext cx="4069080" cy="54864"/>
          </a:xfrm>
          <a:prstGeom prst="rect">
            <a:avLst/>
          </a:prstGeom>
          <a:solidFill>
            <a:srgbClr val="7A1A1A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1682496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currently exists in practice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28032" y="2048256"/>
            <a:ext cx="377647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093976"/>
            <a:ext cx="3630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Pre-deployment model validation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19472" y="2286000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model before release — not the action before execution.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28032" y="2633472"/>
            <a:ext cx="377647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679192"/>
            <a:ext cx="3630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Post-execution audit sampling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19472" y="2871216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 sample of decisions after the fact — after harm may have occurred.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28032" y="3218688"/>
            <a:ext cx="377647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264408"/>
            <a:ext cx="3630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Ad hoc dashboard alerts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19472" y="3456432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with no enforceable deadline, decision record, or accountability chain.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28032" y="3803904"/>
            <a:ext cx="377647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849624"/>
            <a:ext cx="3630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Bespoke per-deployment guardrails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19472" y="4041648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interoperable, not examinable as a coherent whole across institutions.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59028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not a lack of regulatory intent — it is the absence of a standardised runtime implementation that institutions can adopt and regulators can examine.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SAFR Proposes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open, deterministic specification for governing AI agents at the point of action — before funds move, trades execute, or reports file.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627632"/>
            <a:ext cx="406908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627632"/>
            <a:ext cx="64008" cy="1536192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810512"/>
            <a:ext cx="402336" cy="402336"/>
          </a:xfrm>
          <a:prstGeom prst="ellipse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44" dirty="0"/>
          </a:p>
        </p:txBody>
      </p:sp>
      <p:sp>
        <p:nvSpPr>
          <p:cNvPr id="9" name="Text 7"/>
          <p:cNvSpPr/>
          <p:nvPr/>
        </p:nvSpPr>
        <p:spPr>
          <a:xfrm>
            <a:off x="1161288" y="1847088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Pre-Execution Governance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" y="2286000"/>
            <a:ext cx="3739896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377440"/>
            <a:ext cx="3758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proposed agent action is evaluated against a configurable Mandate Stack before it reaches any financial rail. Approval, escalation, or rejection occurs before execution — not after.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1627632"/>
            <a:ext cx="406908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627632"/>
            <a:ext cx="64008" cy="1536192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18888" y="1810512"/>
            <a:ext cx="402336" cy="402336"/>
          </a:xfrm>
          <a:prstGeom prst="ellipse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44" dirty="0"/>
          </a:p>
        </p:txBody>
      </p:sp>
      <p:sp>
        <p:nvSpPr>
          <p:cNvPr id="16" name="Text 14"/>
          <p:cNvSpPr/>
          <p:nvPr/>
        </p:nvSpPr>
        <p:spPr>
          <a:xfrm>
            <a:off x="5367528" y="1847088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Human Oversight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18888" y="2286000"/>
            <a:ext cx="3739896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2377440"/>
            <a:ext cx="3758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escalation is a defined contract: a structured record of who reviewed, what they decided, and when — with an enforceable deadline. Not an alert. A governance event.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291840"/>
            <a:ext cx="406908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291840"/>
            <a:ext cx="64008" cy="15361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" y="3474720"/>
            <a:ext cx="402336" cy="40233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44" dirty="0"/>
          </a:p>
        </p:txBody>
      </p:sp>
      <p:sp>
        <p:nvSpPr>
          <p:cNvPr id="23" name="Text 21"/>
          <p:cNvSpPr/>
          <p:nvPr/>
        </p:nvSpPr>
        <p:spPr>
          <a:xfrm>
            <a:off x="1161288" y="3511296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Record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" y="3950208"/>
            <a:ext cx="3739896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4041648"/>
            <a:ext cx="3758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mandate evaluation produces a tamper-evident, append-only audit entry — with the full Governance Envelope, evaluation rationale, outcome, and cryptographic integrity hash.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3291840"/>
            <a:ext cx="406908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3291840"/>
            <a:ext cx="64008" cy="1536192"/>
          </a:xfrm>
          <a:prstGeom prst="rect">
            <a:avLst/>
          </a:prstGeom>
          <a:solidFill>
            <a:srgbClr val="5C3A8A"/>
          </a:solidFill>
          <a:ln w="12700">
            <a:solidFill>
              <a:srgbClr val="5C3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18888" y="3474720"/>
            <a:ext cx="402336" cy="402336"/>
          </a:xfrm>
          <a:prstGeom prst="ellipse">
            <a:avLst/>
          </a:prstGeom>
          <a:solidFill>
            <a:srgbClr val="5C3A8A"/>
          </a:solidFill>
          <a:ln w="12700">
            <a:solidFill>
              <a:srgbClr val="5C3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44" dirty="0"/>
          </a:p>
        </p:txBody>
      </p:sp>
      <p:sp>
        <p:nvSpPr>
          <p:cNvPr id="30" name="Text 28"/>
          <p:cNvSpPr/>
          <p:nvPr/>
        </p:nvSpPr>
        <p:spPr>
          <a:xfrm>
            <a:off x="5367528" y="3511296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Cross-Institution Standard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18888" y="3950208"/>
            <a:ext cx="3739896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4041648"/>
            <a:ext cx="3758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specification — not a product — that any institution can implement and any regulator can examine. Interoperable audit records enable sector-wide supervisory oversight.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— Safeguards for Agentic Finance Runtime  ·  Regulatory Briefing  ·  For Discussion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SAFR Sits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the AI agent and the financial rail — intercepting every proposed action before it executes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2834640" cy="475488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" y="1527048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746504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financial action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9568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212848"/>
            <a:ext cx="2834640" cy="475488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" y="2258568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Envelope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2478024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intent, reasoning &amp; authority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6883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944368"/>
            <a:ext cx="283464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" y="2990088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 Engine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3209544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Mandate Stack deterministically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3493008"/>
            <a:ext cx="896112" cy="27432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9300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490472" y="3493008"/>
            <a:ext cx="896112" cy="274320"/>
          </a:xfrm>
          <a:prstGeom prst="rect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90472" y="349300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478024" y="3493008"/>
            <a:ext cx="896112" cy="274320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78024" y="349300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" y="3767328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005072"/>
            <a:ext cx="2834640" cy="420624"/>
          </a:xfrm>
          <a:prstGeom prst="rect">
            <a:avLst/>
          </a:prstGeom>
          <a:solidFill>
            <a:srgbClr val="E2EAF2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9224" y="404164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Rails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" y="4242816"/>
            <a:ext cx="2578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if and only if approved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40480" y="148132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 for supervisors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40480" y="1847088"/>
            <a:ext cx="4892040" cy="493776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0" y="1847088"/>
            <a:ext cx="54864" cy="493776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05072" y="1892808"/>
            <a:ext cx="4636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and deterministic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005072" y="2084832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Governance Envelope always produces the same outcome — reproducible for examination.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40480" y="2395728"/>
            <a:ext cx="4892040" cy="493776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0" y="2395728"/>
            <a:ext cx="54864" cy="493776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05072" y="2441448"/>
            <a:ext cx="4636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Pre-execution interception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005072" y="2633472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event occurs before any financial action — not retrospectively.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40480" y="2944368"/>
            <a:ext cx="4892040" cy="493776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2944368"/>
            <a:ext cx="54864" cy="493776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05072" y="2990088"/>
            <a:ext cx="4636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record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05072" y="3182112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evaluation — including approved actions — produces an immutable log entry.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840480" y="3493008"/>
            <a:ext cx="4892040" cy="493776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40480" y="3493008"/>
            <a:ext cx="54864" cy="493776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05072" y="3538728"/>
            <a:ext cx="4636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Institution-configurable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005072" y="3730752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thresholds are set by the institution; core categorical blocks cannot be disabled.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840480" y="4041648"/>
            <a:ext cx="4892040" cy="493776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0" y="4041648"/>
            <a:ext cx="54864" cy="493776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05072" y="4087368"/>
            <a:ext cx="4636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Specification, not a product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005072" y="4279392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 — any institution can implement; any regulator can examine the output.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Envelope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evidentiary foundation — a structured, machine-readable record of the agent's proposed action, reasoning, and authority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554480"/>
            <a:ext cx="3931920" cy="3017520"/>
          </a:xfrm>
          <a:prstGeom prst="rect">
            <a:avLst/>
          </a:prstGeom>
          <a:solidFill>
            <a:srgbClr val="182030"/>
          </a:solidFill>
          <a:ln w="12700">
            <a:solidFill>
              <a:srgbClr val="1820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1645920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Pre-execution Governance Envelope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76072" y="1817827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6072" y="1989734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C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agentId: "tsy-agent-prod-001",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6072" y="2161642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C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institutionId: "OCBC-SG",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6072" y="2333549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transaction: {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6072" y="2505456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amount: 45000, currency: "USD",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6072" y="2677363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C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beneficiary: "Cloud Inc",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6072" y="2849270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C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category: "B2B Software",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6072" y="3021178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reference: "INV-2026-0112"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" y="3193085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6072" y="3364992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C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reasoning: "Annual platform licence",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6072" y="3536899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authority: "procurement-mandate-v3",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6072" y="3708806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context: {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6072" y="3880714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isNewBeneficiary: true,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76072" y="4052621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riskScore: 0.24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6072" y="4224528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6072" y="4396435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1554480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1554480"/>
            <a:ext cx="416052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1655064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&amp; institution identity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18304" y="1865376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every action to a named agent instance and the regulated institution responsible for it. Accountability chain starts here.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2322576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2322576"/>
            <a:ext cx="416052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2423160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payload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18304" y="2633472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machine-readable record of what was proposed — amount, beneficiary, category, reference. The evidentiary foundation for examination.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3090672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3090672"/>
            <a:ext cx="416052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18304" y="319125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field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18304" y="3401568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justification from the agent — evaluated for semantic consistency with the transaction and screened for scam indicators or PII.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0" y="3858768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0" y="3858768"/>
            <a:ext cx="416052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8304" y="3959352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reference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18304" y="4169664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mandate version under which the action is evaluated — enabling point-in-time audit of which governance rules were in force.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— Safeguards for Agentic Finance Runtime  ·  Regulatory Briefing  ·  For Discussion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MAPPING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Stack: Regulatory Obligations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mandate category maps to enforceable regulatory obligations — runtime implementation of requirements already on the books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536192"/>
            <a:ext cx="83210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36192"/>
            <a:ext cx="54864" cy="768096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664208"/>
            <a:ext cx="731520" cy="237744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6642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AuthZ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408176" y="1627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408176" y="1847088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who the agent may transact with and where — beneficiary trust lists, licensing checks, watchlist screening.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47872" y="1627632"/>
            <a:ext cx="0" cy="585216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59105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obligations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00" y="1773936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MAS Notice MAS-620: Third-party and outsourcing risk controls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0" y="19476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MAS FEAT: Accountability — agent must operate within defined authority scope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0" y="212140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EU AI Act Art. 9: Risk management for high-risk AI systems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2395728"/>
            <a:ext cx="8321040" cy="768096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395728"/>
            <a:ext cx="54864" cy="768096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2523744"/>
            <a:ext cx="731520" cy="23774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52374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408176" y="24871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Limits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408176" y="2706624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per-transaction and aggregate spending thresholds — with configurable HITL escalation bands and hard block ceilings.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547872" y="2487168"/>
            <a:ext cx="0" cy="585216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245059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obligations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657600" y="2633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MAS TRM 5.3: Automated transaction controls and approval thresholds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0" y="280720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PSD2 Art. 97: Strong customer authentication for high-value payments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0" y="29809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MAS Notice SFA-04-N02: Operational risk controls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1480" y="3255264"/>
            <a:ext cx="83210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3255264"/>
            <a:ext cx="54864" cy="7680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3383280"/>
            <a:ext cx="73152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3832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408176" y="33467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Controls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408176" y="3566160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Rate-limits agent transaction volume per time window — detecting burst patterns, runaway loops, and data-feed errors before they propagate.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547872" y="3346704"/>
            <a:ext cx="0" cy="585216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331012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obligations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657600" y="349300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FATF Recommendation 10: Unusual transaction monitoring thresholds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657600" y="36667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EU AMLR Art. 18: Enhanced due diligence triggers for unusual patterns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57600" y="384048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MAS Notice 626: Operational risk — automated process controls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11480" y="4114800"/>
            <a:ext cx="8321040" cy="768096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11480" y="4114800"/>
            <a:ext cx="54864" cy="768096"/>
          </a:xfrm>
          <a:prstGeom prst="rect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928" y="4242816"/>
            <a:ext cx="731520" cy="237744"/>
          </a:xfrm>
          <a:prstGeom prst="rect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424281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408176" y="42062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Checks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408176" y="4425696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semantic consistency of agent's stated justification — flags mismatch with transaction data, detects PII exposure and scam indicators.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547872" y="4206240"/>
            <a:ext cx="0" cy="585216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4169664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obligations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657600" y="43525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GDPR Art. 22: Right to explanation for automated decisions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657600" y="452628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MAS FEAT Principle 1: Fairness and explainability of AI decisions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657600" y="4700016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EU AI Act Art. 13: Transparency — decisions must be interpretable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Oversight: The HITL Contract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escalation is a governance event with a defined record — not an alert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1554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81328"/>
            <a:ext cx="1554480" cy="54864"/>
          </a:xfrm>
          <a:prstGeom prst="rect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1609344"/>
            <a:ext cx="402336" cy="402336"/>
          </a:xfrm>
          <a:prstGeom prst="ellipse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609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44" dirty="0"/>
          </a:p>
        </p:txBody>
      </p:sp>
      <p:sp>
        <p:nvSpPr>
          <p:cNvPr id="9" name="Text 7"/>
          <p:cNvSpPr/>
          <p:nvPr/>
        </p:nvSpPr>
        <p:spPr>
          <a:xfrm>
            <a:off x="521208" y="210312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" y="2377440"/>
            <a:ext cx="1335024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468880"/>
            <a:ext cx="1335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evaluation flags the action — spending threshold breached, new beneficiary, velocity anomaly, or reasoning flag.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65960" y="2587752"/>
            <a:ext cx="100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29968" y="1481328"/>
            <a:ext cx="1554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29968" y="1481328"/>
            <a:ext cx="1554480" cy="54864"/>
          </a:xfrm>
          <a:prstGeom prst="rect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6040" y="1609344"/>
            <a:ext cx="402336" cy="402336"/>
          </a:xfrm>
          <a:prstGeom prst="ellipse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609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44" dirty="0"/>
          </a:p>
        </p:txBody>
      </p:sp>
      <p:sp>
        <p:nvSpPr>
          <p:cNvPr id="17" name="Text 15"/>
          <p:cNvSpPr/>
          <p:nvPr/>
        </p:nvSpPr>
        <p:spPr>
          <a:xfrm>
            <a:off x="2139696" y="210312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39696" y="2377440"/>
            <a:ext cx="1335024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39696" y="2468880"/>
            <a:ext cx="1335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is suspended before execution. A structured HITL record is opened with the full Governance Envelope attached.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84448" y="2587752"/>
            <a:ext cx="100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48456" y="1481328"/>
            <a:ext cx="1554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48456" y="1481328"/>
            <a:ext cx="1554480" cy="54864"/>
          </a:xfrm>
          <a:prstGeom prst="rect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24528" y="1609344"/>
            <a:ext cx="402336" cy="402336"/>
          </a:xfrm>
          <a:prstGeom prst="ellipse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24528" y="1609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44" dirty="0"/>
          </a:p>
        </p:txBody>
      </p:sp>
      <p:sp>
        <p:nvSpPr>
          <p:cNvPr id="25" name="Text 23"/>
          <p:cNvSpPr/>
          <p:nvPr/>
        </p:nvSpPr>
        <p:spPr>
          <a:xfrm>
            <a:off x="3758184" y="210312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58184" y="2377440"/>
            <a:ext cx="1335024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58184" y="2468880"/>
            <a:ext cx="1335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reviewer is assigned with a mandatory decision deadline. The reviewer receives the full context — not just an alert.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02936" y="2587752"/>
            <a:ext cx="100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66944" y="1481328"/>
            <a:ext cx="1554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266944" y="1481328"/>
            <a:ext cx="1554480" cy="54864"/>
          </a:xfrm>
          <a:prstGeom prst="rect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43016" y="1609344"/>
            <a:ext cx="402336" cy="402336"/>
          </a:xfrm>
          <a:prstGeom prst="ellipse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43016" y="1609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44" dirty="0"/>
          </a:p>
        </p:txBody>
      </p:sp>
      <p:sp>
        <p:nvSpPr>
          <p:cNvPr id="33" name="Text 31"/>
          <p:cNvSpPr/>
          <p:nvPr/>
        </p:nvSpPr>
        <p:spPr>
          <a:xfrm>
            <a:off x="5376672" y="210312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76672" y="2377440"/>
            <a:ext cx="1335024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76672" y="2468880"/>
            <a:ext cx="1335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approves, rejects, or escalates. Decision — including rationale — is recorded as a governance event in the Audit Schema.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21424" y="2587752"/>
            <a:ext cx="100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85432" y="1481328"/>
            <a:ext cx="1554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85432" y="1481328"/>
            <a:ext cx="1554480" cy="54864"/>
          </a:xfrm>
          <a:prstGeom prst="rect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61504" y="1609344"/>
            <a:ext cx="402336" cy="402336"/>
          </a:xfrm>
          <a:prstGeom prst="ellipse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61504" y="1609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44" dirty="0"/>
          </a:p>
        </p:txBody>
      </p:sp>
      <p:sp>
        <p:nvSpPr>
          <p:cNvPr id="41" name="Text 39"/>
          <p:cNvSpPr/>
          <p:nvPr/>
        </p:nvSpPr>
        <p:spPr>
          <a:xfrm>
            <a:off x="6995160" y="210312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95160" y="2377440"/>
            <a:ext cx="1335024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95160" y="2468880"/>
            <a:ext cx="1335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proceeds or is blocked based on the decision. Both the suspension and the resolution are sealed in the audit record.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4059936"/>
            <a:ext cx="8321040" cy="475488"/>
          </a:xfrm>
          <a:prstGeom prst="rect">
            <a:avLst/>
          </a:prstGeom>
          <a:solidFill>
            <a:srgbClr val="F4F7FA"/>
          </a:solidFill>
          <a:ln w="10160">
            <a:solidFill>
              <a:srgbClr val="006B6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66928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audit record contains: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468880" y="4133088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Trigger mandate + rationale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712464" y="4133088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Reviewer identity + role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56048" y="4133088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Timestamp of suspension and decision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199632" y="4133088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Decision outcome + stated rationale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443216" y="4133088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Cryptographic integrity hash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SUPERVISION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Schema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Tamper-evident, append-only record of every governance decision — with cryptographic integrity verification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4023360" cy="237744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5361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764792" y="15361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642616" y="153619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746504"/>
            <a:ext cx="4023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7830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envelopeId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64792" y="1783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642616" y="178308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for each governance evaluation event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1480" y="2029968"/>
            <a:ext cx="4023360" cy="27432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0665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764792" y="20665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642616" y="206654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of the agent instance that proposed the action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2313432"/>
            <a:ext cx="4023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23500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institutionId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764792" y="23500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42616" y="235000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institution responsible for the agent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1480" y="2596896"/>
            <a:ext cx="4023360" cy="27432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2633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764792" y="26334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8601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642616" y="263347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Pre-execution timestamp — when governance was evaluated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1480" y="2880360"/>
            <a:ext cx="4023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29169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envelopePayload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764792" y="29169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642616" y="291693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Governance Envelope: transaction, reasoning, context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1480" y="3163824"/>
            <a:ext cx="4023360" cy="27432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" y="32004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mandateVersion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764792" y="32004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semver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642616" y="320040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of the Mandate Stack in force at evaluation time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11480" y="3447288"/>
            <a:ext cx="4023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" y="34838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evaluations[]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764792" y="34838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642616" y="348386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Per-mandate outcome: PASS / FLAG / BLOCK + rationale string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1480" y="3730752"/>
            <a:ext cx="4023360" cy="27432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" y="37673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disposition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764792" y="3767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642616" y="376732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outcome: EXECUTE / HITL / BLOCK / SHADOW_LOG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11480" y="4014216"/>
            <a:ext cx="4023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" y="40507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hitlRecord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764792" y="40507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object|null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642616" y="405079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HITL: reviewer, decision, rationale, timestamps, deadline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11480" y="4297680"/>
            <a:ext cx="4023360" cy="27432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1208" y="43342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integrityHash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764792" y="4334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642616" y="433425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hash — detects any post-hoc tampering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663440" y="150876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Supervisory use cases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63440" y="1828800"/>
            <a:ext cx="4069080" cy="512064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63440" y="1828800"/>
            <a:ext cx="54864" cy="5120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28032" y="1874520"/>
            <a:ext cx="3813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examination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828032" y="2066544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all HITL events where human reviewer rejected the agent decision — examine the accountability chain for each.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63440" y="2395728"/>
            <a:ext cx="4069080" cy="512064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663440" y="2395728"/>
            <a:ext cx="54864" cy="5120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28032" y="2441448"/>
            <a:ext cx="3813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Thematic review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828032" y="2633472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all BLOCKED events across a category (e.g. "scam indicator in reasoning") to identify emerging agent risk patterns.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663440" y="2962656"/>
            <a:ext cx="4069080" cy="512064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663440" y="2962656"/>
            <a:ext cx="54864" cy="5120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28032" y="3008376"/>
            <a:ext cx="3813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calibration audit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828032" y="3200400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mandateVersion across institutions — assess whether spending thresholds and velocity controls are appropriately set for their risk profile.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663440" y="3529584"/>
            <a:ext cx="4069080" cy="512064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663440" y="3529584"/>
            <a:ext cx="54864" cy="5120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28032" y="3575304"/>
            <a:ext cx="3813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reconstruction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828032" y="3767328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the full governance context for any transaction — including what the agent's reasoning was and which mandate version was in force.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663440" y="4096512"/>
            <a:ext cx="4069080" cy="512064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663440" y="4096512"/>
            <a:ext cx="54864" cy="5120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28032" y="4142232"/>
            <a:ext cx="3813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Cross-institution comparison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828032" y="4334256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schema enables sector-wide analysis — identify outliers in HITL rates, block rates, and reasoning quality across regulated entities.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Payment Agent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36576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152144"/>
            <a:ext cx="8010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 A treasury AI agent at a licensed financial institution receives supplier invoice INV-2026-0112 for USD 45,000 from Cloud Infrastructure Inc — a new, unverified beneficiary.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591056"/>
            <a:ext cx="1920240" cy="475488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9105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331720" y="1591056"/>
            <a:ext cx="109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591056"/>
            <a:ext cx="1920240" cy="475488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59105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43400" y="1591056"/>
            <a:ext cx="109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1591056"/>
            <a:ext cx="192024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59105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5080" y="1591056"/>
            <a:ext cx="109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46520" y="1591056"/>
            <a:ext cx="1920240" cy="475488"/>
          </a:xfrm>
          <a:prstGeom prst="rect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59105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157984"/>
            <a:ext cx="8321040" cy="256032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19456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Evaluations — Runtime Record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2414016"/>
            <a:ext cx="8321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441448"/>
            <a:ext cx="438912" cy="256032"/>
          </a:xfrm>
          <a:prstGeom prst="rect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44144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914400" y="246888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AuthZ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82496" y="246888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C6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safr-auth-01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054096" y="246888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Inc not in approved beneficiary store. New entity — no prior transaction history. Enforcement: hitl_required.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" y="2743200"/>
            <a:ext cx="8321040" cy="329184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2770632"/>
            <a:ext cx="438912" cy="256032"/>
          </a:xfrm>
          <a:prstGeom prst="rect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77063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914400" y="279806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82496" y="279806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C6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safr-limit-01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054096" y="279806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45,000 exceeds USD 10,000 autonomous threshold. Escalates to HITL queue with full Governance Envelope and decision deadline.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11480" y="3072384"/>
            <a:ext cx="8321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3099816"/>
            <a:ext cx="438912" cy="25603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099816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914400" y="312724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682496" y="312724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C6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safr-velocity-01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054096" y="3127248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dailySpendToDate USD 8,500 + USD 45,000 = USD 53,500. Within USD 500,000 daily cap. 2nd outbound payment today — within burst limit.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11480" y="3401568"/>
            <a:ext cx="8321040" cy="329184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3429000"/>
            <a:ext cx="438912" cy="25603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42900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914400" y="345643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682496" y="345643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C6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safr-reason-01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054096" y="345643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"Annual platform licence renewal" semantically consistent with category "B2B Software". No scam keywords. No PII (NRIC/SSN) detected.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11480" y="3730752"/>
            <a:ext cx="8321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3758184"/>
            <a:ext cx="438912" cy="25603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375818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914400" y="378561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682496" y="378561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C6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safr-cat-01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054096" y="378561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"B2B Software" not in categorical blocklist. Beneficiary not on MAS AML watchlist. No unlicensed financial activity detected.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11480" y="4151376"/>
            <a:ext cx="8321040" cy="384048"/>
          </a:xfrm>
          <a:prstGeom prst="rect">
            <a:avLst/>
          </a:prstGeom>
          <a:solidFill>
            <a:srgbClr val="F4F7FA"/>
          </a:solidFill>
          <a:ln w="12700">
            <a:solidFill>
              <a:srgbClr val="C0601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66928" y="41879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Disposition: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536192" y="4206240"/>
            <a:ext cx="914400" cy="274320"/>
          </a:xfrm>
          <a:prstGeom prst="rect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536192" y="4206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542032" y="418795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5 mandates passed · 2 flags (AuthZ, Spending) · Treasury supervisor assigned · Decision deadline: 4 hours · Audit record sealed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RISK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Risk Controls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failures are not isolated events — velocity controls and burst protection prevent operational risk from propagating at machine speed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572768"/>
            <a:ext cx="2651760" cy="292608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72768"/>
            <a:ext cx="2651760" cy="54864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36192" y="1700784"/>
            <a:ext cx="402336" cy="40233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36192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44" dirty="0"/>
          </a:p>
        </p:txBody>
      </p:sp>
      <p:sp>
        <p:nvSpPr>
          <p:cNvPr id="9" name="Text 7"/>
          <p:cNvSpPr/>
          <p:nvPr/>
        </p:nvSpPr>
        <p:spPr>
          <a:xfrm>
            <a:off x="539496" y="223113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Runaway Agent / Burst Failure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9496" y="2651760"/>
            <a:ext cx="2395728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" y="2706624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9496" y="287121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feed error causes agent to submit orders or payments at 10–100× normal rate within seconds.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9496" y="3328416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Control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39496" y="3493008"/>
            <a:ext cx="23957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mandate: per-minute transaction count and value caps. Burst pattern detection triggers agent kill-switch and mandatory human reset. All actions logged before the kill.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64408" y="1572768"/>
            <a:ext cx="2651760" cy="292608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64408" y="1572768"/>
            <a:ext cx="2651760" cy="54864"/>
          </a:xfrm>
          <a:prstGeom prst="rect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1700784"/>
            <a:ext cx="402336" cy="402336"/>
          </a:xfrm>
          <a:prstGeom prst="ellipse">
            <a:avLst/>
          </a:prstGeom>
          <a:solidFill>
            <a:srgbClr val="C06010"/>
          </a:solidFill>
          <a:ln w="12700">
            <a:solidFill>
              <a:srgbClr val="C060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44" dirty="0"/>
          </a:p>
        </p:txBody>
      </p:sp>
      <p:sp>
        <p:nvSpPr>
          <p:cNvPr id="19" name="Text 17"/>
          <p:cNvSpPr/>
          <p:nvPr/>
        </p:nvSpPr>
        <p:spPr>
          <a:xfrm>
            <a:off x="3392424" y="223113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/ Reasoning Poisoning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92424" y="2651760"/>
            <a:ext cx="2395728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92424" y="2706624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92424" y="287121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input in a document or data feed manipulates the agent's reasoning to approve a fraudulent payment.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92424" y="3328416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Control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92424" y="3493008"/>
            <a:ext cx="23957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mandate: semantic consistency check between reasoning field and transaction payload. Scam keyword screening. PII detection. Mismatch triggers automatic HITL with reasoning anomaly flag.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17336" y="1572768"/>
            <a:ext cx="2651760" cy="292608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17336" y="1572768"/>
            <a:ext cx="2651760" cy="548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42048" y="1700784"/>
            <a:ext cx="402336" cy="40233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42048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44" dirty="0"/>
          </a:p>
        </p:txBody>
      </p:sp>
      <p:sp>
        <p:nvSpPr>
          <p:cNvPr id="29" name="Text 27"/>
          <p:cNvSpPr/>
          <p:nvPr/>
        </p:nvSpPr>
        <p:spPr>
          <a:xfrm>
            <a:off x="6245352" y="223113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Risk / Aggregate Exposure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45352" y="2651760"/>
            <a:ext cx="2395728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5352" y="2706624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45352" y="287121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autonomously executes a large number of individually below-threshold transactions to a single beneficiary or category.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45352" y="3328416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Control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45352" y="3493008"/>
            <a:ext cx="23957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aggregate cap mandate tracks cumulative spend per session. Concentration velocity rule detects unusual beneficiary or category clustering. Triggers HITL or block when pattern exceeds configured threshold.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— Safeguards for Agentic Finance Runtime  ·  Regulatory Briefing  ·  For Discussion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ALIGNMENT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MindForge: Dimension Mapping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mandates map directly to MAS Project MindForge's 7 AI risk dimensions — each producing evidence for the relevant workgroup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3816" y="1536192"/>
            <a:ext cx="384048" cy="384048"/>
          </a:xfrm>
          <a:prstGeom prst="ellipse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7" name="Text 5"/>
          <p:cNvSpPr/>
          <p:nvPr/>
        </p:nvSpPr>
        <p:spPr>
          <a:xfrm>
            <a:off x="630936" y="1993392"/>
            <a:ext cx="74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Governance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66344" y="2523744"/>
            <a:ext cx="10972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1208" y="2578608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21208" y="274320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core mandates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21208" y="3145536"/>
            <a:ext cx="987552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3182112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produced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21208" y="3346704"/>
            <a:ext cx="987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record with agent ID, institution ID, authority reference, and decision chain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002536" y="1536192"/>
            <a:ext cx="384048" cy="384048"/>
          </a:xfrm>
          <a:prstGeom prst="ellipse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02536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2" dirty="0"/>
          </a:p>
        </p:txBody>
      </p:sp>
      <p:sp>
        <p:nvSpPr>
          <p:cNvPr id="16" name="Text 14"/>
          <p:cNvSpPr/>
          <p:nvPr/>
        </p:nvSpPr>
        <p:spPr>
          <a:xfrm>
            <a:off x="1819656" y="1993392"/>
            <a:ext cx="74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Stability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655064" y="2523744"/>
            <a:ext cx="10972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709928" y="2578608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709928" y="274320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mandates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709928" y="3145536"/>
            <a:ext cx="987552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09928" y="3182112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produced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709928" y="3346704"/>
            <a:ext cx="987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velocity logs; burst detection events; agent kill-switch activations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191256" y="1536192"/>
            <a:ext cx="384048" cy="384048"/>
          </a:xfrm>
          <a:prstGeom prst="ellipse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91256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25" name="Text 23"/>
          <p:cNvSpPr/>
          <p:nvPr/>
        </p:nvSpPr>
        <p:spPr>
          <a:xfrm>
            <a:off x="3008376" y="1993392"/>
            <a:ext cx="74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Explainability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843784" y="2523744"/>
            <a:ext cx="10972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898648" y="2578608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898648" y="274320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+ audit trail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898648" y="3145536"/>
            <a:ext cx="987552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98648" y="3182112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produced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898648" y="3346704"/>
            <a:ext cx="987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field in envelope; semantic consistency check result; full evaluation rationale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379976" y="1536192"/>
            <a:ext cx="384048" cy="384048"/>
          </a:xfrm>
          <a:prstGeom prst="ellipse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79976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92" dirty="0"/>
          </a:p>
        </p:txBody>
      </p:sp>
      <p:sp>
        <p:nvSpPr>
          <p:cNvPr id="34" name="Text 32"/>
          <p:cNvSpPr/>
          <p:nvPr/>
        </p:nvSpPr>
        <p:spPr>
          <a:xfrm>
            <a:off x="4197096" y="1993392"/>
            <a:ext cx="74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Bias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032504" y="2523744"/>
            <a:ext cx="10972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087368" y="2578608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087368" y="274320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blocklist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087368" y="3145536"/>
            <a:ext cx="987552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87368" y="3182112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produced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087368" y="3346704"/>
            <a:ext cx="987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blocklist audit log; blocklist version history; per-category decision distribution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568696" y="1536192"/>
            <a:ext cx="384048" cy="384048"/>
          </a:xfrm>
          <a:prstGeom prst="ellipse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68696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92" dirty="0"/>
          </a:p>
        </p:txBody>
      </p:sp>
      <p:sp>
        <p:nvSpPr>
          <p:cNvPr id="43" name="Text 41"/>
          <p:cNvSpPr/>
          <p:nvPr/>
        </p:nvSpPr>
        <p:spPr>
          <a:xfrm>
            <a:off x="5385816" y="1993392"/>
            <a:ext cx="74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221224" y="2523744"/>
            <a:ext cx="10972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276088" y="2578608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276088" y="274320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AuthZ + categories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276088" y="3145536"/>
            <a:ext cx="987552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76088" y="3182112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produced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276088" y="3346704"/>
            <a:ext cx="987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check result; AML watchlist screening; regulatory citation in block reason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757416" y="1536192"/>
            <a:ext cx="384048" cy="384048"/>
          </a:xfrm>
          <a:prstGeom prst="ellipse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57416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92" dirty="0"/>
          </a:p>
        </p:txBody>
      </p:sp>
      <p:sp>
        <p:nvSpPr>
          <p:cNvPr id="52" name="Text 50"/>
          <p:cNvSpPr/>
          <p:nvPr/>
        </p:nvSpPr>
        <p:spPr>
          <a:xfrm>
            <a:off x="6574536" y="1993392"/>
            <a:ext cx="74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Impact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409944" y="2523744"/>
            <a:ext cx="10972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464808" y="2578608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464808" y="274320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 + PII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464808" y="3145536"/>
            <a:ext cx="987552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64808" y="3182112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produced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464808" y="3346704"/>
            <a:ext cx="987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events; scam keyword flags; reasoning anomaly records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946136" y="1536192"/>
            <a:ext cx="384048" cy="384048"/>
          </a:xfrm>
          <a:prstGeom prst="ellipse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46136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92" dirty="0"/>
          </a:p>
        </p:txBody>
      </p:sp>
      <p:sp>
        <p:nvSpPr>
          <p:cNvPr id="61" name="Text 59"/>
          <p:cNvSpPr/>
          <p:nvPr/>
        </p:nvSpPr>
        <p:spPr>
          <a:xfrm>
            <a:off x="7763256" y="1993392"/>
            <a:ext cx="74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&amp; Data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598664" y="2523744"/>
            <a:ext cx="10972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7653528" y="2578608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7653528" y="274320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AuthZ + PII checks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53528" y="3145536"/>
            <a:ext cx="987552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53528" y="3182112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produced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7653528" y="3346704"/>
            <a:ext cx="987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hashes; agent identity binding; tamper-evidence on all audit records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SUPERVISORY VALUE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SAFR Makes Possible for Supervisors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that do not currently exist when institutions deploy AI agents without a runtime governance standard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517904"/>
            <a:ext cx="2651760" cy="157276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17904"/>
            <a:ext cx="2651760" cy="54864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62763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Examination Evidence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7784" y="2011680"/>
            <a:ext cx="2395728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2084832"/>
            <a:ext cx="2395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SAFR-compliant institution produces the same audit record schema. Examiners can compare governance quality across institutions using the same data structure — not bespoke reports.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64408" y="1517904"/>
            <a:ext cx="2651760" cy="157276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517904"/>
            <a:ext cx="2651760" cy="54864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62763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Pre-Execution Accountability Chain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10712" y="2011680"/>
            <a:ext cx="2395728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2084832"/>
            <a:ext cx="2395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first time, the accountability record exists before the financial action — not as a post-hoc reconstruction. Who authorised what, under which mandate, is provable from the envelope.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17336" y="1517904"/>
            <a:ext cx="2651760" cy="157276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17336" y="1517904"/>
            <a:ext cx="2651760" cy="54864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62763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Verification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2011680"/>
            <a:ext cx="2395728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084832"/>
            <a:ext cx="2395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records are auditable governance events — not informal approvals. Regulators can verify that human oversight was meaningful: who reviewed, what they decided, how long it took.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3218688"/>
            <a:ext cx="2651760" cy="157276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218688"/>
            <a:ext cx="2651760" cy="54864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" y="3328416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Sector-Wide Pattern Analysis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" y="3712464"/>
            <a:ext cx="2395728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" y="3785616"/>
            <a:ext cx="2395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audit schema enables macro-prudential analysis: HITL rates, block rates, reasoning anomaly frequencies across the sector — surfacing systemic risk patterns invisible at the institution level.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64408" y="3218688"/>
            <a:ext cx="2651760" cy="157276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64408" y="3218688"/>
            <a:ext cx="2651760" cy="54864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0712" y="3328416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Calibration Oversight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10712" y="3712464"/>
            <a:ext cx="2395728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0712" y="3785616"/>
            <a:ext cx="2395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can examine whether mandate thresholds — spending limits, velocity caps, escalation bands — are appropriately calibrated for an institution's risk profile and business model.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17336" y="3218688"/>
            <a:ext cx="2651760" cy="1572768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17336" y="3218688"/>
            <a:ext cx="2651760" cy="54864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328416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Reconstruction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3712464"/>
            <a:ext cx="2395728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3785616"/>
            <a:ext cx="2395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adverse event involving an AI agent, SAFR provides a complete, tamper-evident reconstruction: what was proposed, what the agent said its reasoning was, what governance decided, and when.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— Safeguards for Agentic Finance Runtime  ·  Regulatory Briefing  ·  For Discussion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Open Questions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is a draft specification. The following questions require regulatory input to resolve.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8321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81328"/>
            <a:ext cx="54864" cy="640080"/>
          </a:xfrm>
          <a:prstGeom prst="rect">
            <a:avLst/>
          </a:prstGeom>
          <a:solidFill>
            <a:srgbClr val="7A1A1A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5544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Thresholds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5216" y="17373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sets them?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29968" y="1554480"/>
            <a:ext cx="0" cy="493776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76272" y="1554480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allows institutions to configure spending limits, velocity caps, and escalation thresholds. Should regulators prescribe minimum floor thresholds — similar to capital adequacy requirements? Or is institution-level configuration within a supervisory review model sufficient?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212848"/>
            <a:ext cx="8321040" cy="640080"/>
          </a:xfrm>
          <a:prstGeom prst="rect">
            <a:avLst/>
          </a:prstGeom>
          <a:solidFill>
            <a:srgbClr val="EEF1F5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212848"/>
            <a:ext cx="54864" cy="640080"/>
          </a:xfrm>
          <a:prstGeom prst="rect">
            <a:avLst/>
          </a:prstGeom>
          <a:solidFill>
            <a:srgbClr val="7A1A1A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2286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Identity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85216" y="24688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an agent credentialed?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29968" y="2286000"/>
            <a:ext cx="0" cy="493776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76272" y="2286000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specification assumes agents have a unique identifier assigned by the institution. A cross-institution standard for agent identity — analogous to LEI for legal entities — does not yet exist. This is a prerequisite for sector-wide audit schema interoperability.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944368"/>
            <a:ext cx="8321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944368"/>
            <a:ext cx="54864" cy="640080"/>
          </a:xfrm>
          <a:prstGeom prst="rect">
            <a:avLst/>
          </a:prstGeom>
          <a:solidFill>
            <a:srgbClr val="7A1A1A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30175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Record Retention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5216" y="3200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regulatory retention obligations?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29968" y="3017520"/>
            <a:ext cx="0" cy="493776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76272" y="3017520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produces a complete pre-execution record. Whether this record satisfies existing record-keeping obligations — or creates new ones — depends on jurisdictional interpretation of MAS Notice MAS-620, GDPR Art. 5(1)(e), and relevant conduct rules.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675888"/>
            <a:ext cx="8321040" cy="640080"/>
          </a:xfrm>
          <a:prstGeom prst="rect">
            <a:avLst/>
          </a:prstGeom>
          <a:solidFill>
            <a:srgbClr val="EEF1F5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675888"/>
            <a:ext cx="54864" cy="640080"/>
          </a:xfrm>
          <a:prstGeom prst="rect">
            <a:avLst/>
          </a:prstGeom>
          <a:solidFill>
            <a:srgbClr val="7A1A1A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" y="37490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Chains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85216" y="3931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accountability assigned across agent hierarchies?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029968" y="3749040"/>
            <a:ext cx="0" cy="493776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76272" y="3749040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currently governs a single agent acting on behalf of an institution. When multiple agents interact — orchestrator and sub-agents — the accountability chain becomes more complex. The specification does not yet address principal hierarchy governance in multi-agent architectures.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4407408"/>
            <a:ext cx="8321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4407408"/>
            <a:ext cx="54864" cy="640080"/>
          </a:xfrm>
          <a:prstGeom prst="rect">
            <a:avLst/>
          </a:prstGeom>
          <a:solidFill>
            <a:srgbClr val="7A1A1A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" y="44805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Applicability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85216" y="4663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jurisdiction's mandates apply?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29968" y="4480560"/>
            <a:ext cx="0" cy="493776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76272" y="4480560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payment agent operating across multiple jurisdictions may face conflicting mandate requirements — MAS thresholds vs. PSD2 thresholds vs. FCA rules. SAFR does not yet specify how jurisdictional conflicts in the Mandate Stack are resolved.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Engage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1335024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 is an open specification in active development. Regulatory input on the open questions above is the most valuable contribution at this stage.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993392"/>
            <a:ext cx="1874520" cy="1554480"/>
          </a:xfrm>
          <a:prstGeom prst="rect">
            <a:avLst/>
          </a:prstGeom>
          <a:solidFill>
            <a:srgbClr val="1A3A5C"/>
          </a:solidFill>
          <a:ln w="10160">
            <a:solidFill>
              <a:srgbClr val="00808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" y="212140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Review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9224" y="2432304"/>
            <a:ext cx="1618488" cy="0"/>
          </a:xfrm>
          <a:prstGeom prst="line">
            <a:avLst/>
          </a:prstGeom>
          <a:noFill/>
          <a:ln w="6350">
            <a:solidFill>
              <a:srgbClr val="0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2505456"/>
            <a:ext cx="161848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specification and mandate schema. Identify gaps relative to your supervisory requirements, regulatory obligations, or examination practice.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1993392"/>
            <a:ext cx="1874520" cy="1554480"/>
          </a:xfrm>
          <a:prstGeom prst="rect">
            <a:avLst/>
          </a:prstGeom>
          <a:solidFill>
            <a:srgbClr val="1A3A5C"/>
          </a:solidFill>
          <a:ln w="10160">
            <a:solidFill>
              <a:srgbClr val="00808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60904" y="212140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Mapping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60904" y="2432304"/>
            <a:ext cx="1618488" cy="0"/>
          </a:xfrm>
          <a:prstGeom prst="line">
            <a:avLst/>
          </a:prstGeom>
          <a:noFill/>
          <a:ln w="6350">
            <a:solidFill>
              <a:srgbClr val="008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60904" y="2505456"/>
            <a:ext cx="161848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jurisdiction-specific obligation mappings — your local MAS Notice, FCA rule, ECB guidance — to the mandate registry for inclusion in v1.0.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26280" y="1993392"/>
            <a:ext cx="1874520" cy="1554480"/>
          </a:xfrm>
          <a:prstGeom prst="rect">
            <a:avLst/>
          </a:prstGeom>
          <a:solidFill>
            <a:srgbClr val="1A3A5C"/>
          </a:solidFill>
          <a:ln w="10160">
            <a:solidFill>
              <a:srgbClr val="00808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72584" y="212140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Observation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72584" y="2432304"/>
            <a:ext cx="1618488" cy="0"/>
          </a:xfrm>
          <a:prstGeom prst="line">
            <a:avLst/>
          </a:prstGeom>
          <a:noFill/>
          <a:ln w="6350">
            <a:solidFill>
              <a:srgbClr val="008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72584" y="2505456"/>
            <a:ext cx="161848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a SAFR deployment at a regulated institution in observation mode. Provide feedback on whether the audit record meets examination needs.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37960" y="1993392"/>
            <a:ext cx="1874520" cy="1554480"/>
          </a:xfrm>
          <a:prstGeom prst="rect">
            <a:avLst/>
          </a:prstGeom>
          <a:solidFill>
            <a:srgbClr val="1A3A5C"/>
          </a:solidFill>
          <a:ln w="10160">
            <a:solidFill>
              <a:srgbClr val="00808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84264" y="212140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Group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84264" y="2432304"/>
            <a:ext cx="1618488" cy="0"/>
          </a:xfrm>
          <a:prstGeom prst="line">
            <a:avLst/>
          </a:prstGeom>
          <a:noFill/>
          <a:ln w="6350">
            <a:solidFill>
              <a:srgbClr val="008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2505456"/>
            <a:ext cx="161848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the open specification working group — particularly on agentic identity, threshold floors, cross-border applicability, and HITL standards.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3730752"/>
            <a:ext cx="7863840" cy="0"/>
          </a:xfrm>
          <a:prstGeom prst="line">
            <a:avLst/>
          </a:prstGeom>
          <a:noFill/>
          <a:ln w="10160">
            <a:solidFill>
              <a:srgbClr val="008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87705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Specification: SPECIFICATION.md  ·  github.com/aetherllama/fagf-fs-core  ·  Apache 2.0  ·  SAFR v0.9-Draft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418795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aetherlark@gmail.com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SAFR — Regulatory Briefing</dc:title>
  <dc:subject>PptxGenJS Presentation</dc:subject>
  <dc:creator>PptxGenJS</dc:creator>
  <cp:lastModifiedBy>PptxGenJS</cp:lastModifiedBy>
  <cp:revision>1</cp:revision>
  <dcterms:created xsi:type="dcterms:W3CDTF">2026-06-03T15:26:32Z</dcterms:created>
  <dcterms:modified xsi:type="dcterms:W3CDTF">2026-06-03T15:26:32Z</dcterms:modified>
</cp:coreProperties>
</file>